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MARKET RESEARCH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рынка юридических услуг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автоматизации (2026–2027)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18288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Военное право · Миграция ЕС · Гражданские услуги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апреля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Market Research Analyst · LegalTech Consultant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цифры рынка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606040" cy="2468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011680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млн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украинцев со статусом TPD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ЕС (истекает 04.03.2027)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606040" cy="2468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2011680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468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тыс.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20440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разводов в Украине (2025)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Дія-онлайн стартует Q1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606040" cy="2468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2011680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468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тыс.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0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семей получили компенсации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єВідновлення (31,5 млрд грн)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2011680"/>
            <a:ext cx="2606040" cy="2468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98280" y="2011680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2468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млн ₴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281160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одноразовая помощь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семье погибшего (с 01.09.2025)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три независимых вертикали спроса — миграционная, военная, гражданская. Каждая подходит для шаблонной автоматизации.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Market Research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Военное право / ТЦК / ВЛК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479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Відстрочка від мобілізації (ст. 23)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9933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Электронная подача через Резерв+ (2026). Стандартные основания п. 1–8, 13 — шаблонизируются.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241280" y="1801368"/>
            <a:ext cx="1371600" cy="3657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0" y="1801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Авто: 3/10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112471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32888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6243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Оскарження рішення ТЦК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Адм. жалоба в МО — 1 месяц. Админ. иск — структурированный шаблон.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241280" y="2779776"/>
            <a:ext cx="1371600" cy="3657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0" y="27797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Авто: 6/10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11296"/>
            <a:ext cx="112471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11296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72160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36027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Оскарження висновку ВЛК (досудове)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950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Скарга у вищу ВЛК — 1 мес. с момента получения справки.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241280" y="3758184"/>
            <a:ext cx="1371600" cy="3657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3758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Авто: 5/10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89704"/>
            <a:ext cx="112471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489704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70001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71600" y="458114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млн ₴ сім'ї загиблого (ОГД)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492861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01.09.2025 новая схема: 3 млн сразу + 12 млн равными частями 80 мес.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241280" y="4736592"/>
            <a:ext cx="1371600" cy="3657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0" y="4736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Авто: 4/10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468112"/>
            <a:ext cx="112471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468112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567842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678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71600" y="55595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Пенсія по втраті годувальника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371600" y="59070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Стандартный пакет ПФУ. Шаблонизируется полностью.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241280" y="5715000"/>
            <a:ext cx="1371600" cy="3657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41280" y="5715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Авто: 4/10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Market Research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Временная защита в ЕС — таймлайн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103327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3364992"/>
            <a:ext cx="219456" cy="21945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9144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Март 2022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-18288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Активация TPD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33472" y="3364992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Продление до 04.03.2027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3364992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Окно Чехии (Lex Ukraine VII)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39712" y="3364992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 ЕК о новом статусе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34272" y="336499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04.03.2027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Истечение TPD — точка 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3566160" cy="1371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83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983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Германия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285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~1,2 млн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§24 → Chancenkarte / Blue Card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(ЗП ≥ €48 300)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4846320"/>
            <a:ext cx="3566160" cy="1371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983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74920" y="4983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Польша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5285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~950 тыс.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CUKR — законопроект (⚠)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 pobytu czasowa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4846320"/>
            <a:ext cx="3566160" cy="1371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4983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778240" y="4983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Чехия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78240" y="5285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~380 тыс.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0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Long-Term Permit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года TP + CZK 440 000/год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Market Research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Гражданские и административные услуги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0060" y="1554480"/>
            <a:ext cx="3611880" cy="4754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0060" y="1554480"/>
            <a:ext cx="36118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Разводы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8660" y="2240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тыс./год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8660" y="2697480"/>
            <a:ext cx="3154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" y="283464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РАЦС без детей — шаблон ф-1/ф-8 (авто: 1/10)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Дія-онлайн старт Q1 2026 (без детей)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Позов ст. 110 СК с детьми — средний (5/10)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согласия супруга — допустимо, ст. 112 СК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4820" y="1554480"/>
            <a:ext cx="3611880" cy="4754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4820" y="1554480"/>
            <a:ext cx="36118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3420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Алименты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03420" y="2240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Судовий наказ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03420" y="2697480"/>
            <a:ext cx="3154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9140" y="283464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суд. заседания, 0 грн збору (авто: 2/10)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¼ на 1 ребёнка · ⅓ на 2 · ½ на 3+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Макс. 27 830 ₴ (до 6 лет) · 34 710 ₴ (6–18)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Стабильная норма — идеальный кандидат MVP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9580" y="1554480"/>
            <a:ext cx="3611880" cy="4754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9580" y="1554480"/>
            <a:ext cx="36118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8180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єВідновлення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98180" y="2240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67К+ семей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98180" y="2697480"/>
            <a:ext cx="3154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3900" y="283464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Повреждение — заявка в «Дії» (авто: 3/10)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Разрушение — житловий сертифікат (4/10)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Обновлена постановою КМУ 26.11.2025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Оскарження відмови — 7/10 (практика ВС)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Market Research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СВОДНАЯ ТАБЛИЦА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Услуги 1–9: гражданские + военные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2560320"/>
                <a:gridCol w="1005840"/>
                <a:gridCol w="22860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Услуга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Аудитория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Сложность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документа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Статус нормы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Аліменти (судовий наказ, ст. 161, 183 СК)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Матери/разведённые родители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Шаблон ЦПК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Стабильная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Розлучення через РАЦС (без детей)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Супруги без дет. до 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Шаблон ф-1/ф-8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Дія Q1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Позов про розірвання шлюбу (ст. 110)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Супруги с детьми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Действующая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Відстрочка (ст. 23) — стандарт. основания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Инвалиды, отцы 3+, опекуны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Заява / Резерв+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Эл. подача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Скарга на рішення ТЦК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Получившие отказ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Адм. жалоба/иск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Действующая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Оскарження ВЛК — досудове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Военнослужащие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Скарга (1 мес.)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Действующая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Адм. позов — скасування ВЛК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Военнослужащие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Иск (6 мес.)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Требует юриста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Одноразова допомога 15 млн сім'ї загиблого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Вдовы, родители, дети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Пакет у ТЦК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 01.09.2025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Пенсія по втраті годувальника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Семьи погибших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Пакет ПФУ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Действующая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Market Research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СВОДНАЯ ТАБЛИЦА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Услуги 10–18: єВідновлення + EU-миграция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2560320"/>
                <a:gridCol w="1005840"/>
                <a:gridCol w="22860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Услуга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Аудитория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Сложность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документа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Статус нормы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Компенсація єВідновлення (повреждение)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Собственники жилья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Заява в «Дії»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Пост. КМУ 26.11.2025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Житловий сертифікат (знищене житло)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Собственники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Заява + пакет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Действующая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Позов до комісії єВідновлення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Получившие отказ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Адм. иск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Практика ВС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Відновлення документів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ВПО за границей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Стандарт. заявы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Действующая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Chancenkarte (Германия)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Украинцы со §24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Пакет + баллы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Действующая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Blue Card (Германия)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Спец. ЗП ≥ €48 300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Пакет + работодатель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Действующая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 Long-Term Permit (Чехия)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 2+ года, доход CZK 440К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Эл. заявка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Окно 01–30.04.2026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Karta pobytu / CUKR (Польша)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 окончания TP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Пакет воеводе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Законопроект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Воссоединение семьи (EU)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Родственники резидентов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Пакет + родство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Действующая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Market Research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2027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«золотые жилы» после окончания TPD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0060" y="1554480"/>
            <a:ext cx="3611880" cy="4754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0060" y="1554480"/>
            <a:ext cx="36118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🥇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94460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8660" y="2468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§24 → Chancenkarte / Blue Card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8660" y="3108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Германия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8660" y="3520440"/>
            <a:ext cx="3154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рынка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8660" y="3886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~1,2 млн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8660" y="43891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шаблонизируется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8660" y="46177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Формализованные критерии (Punktesystem, зарплата). Балльный калькулятор + пакет документов (Lebenslauf, Motivation, Antrag).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60" y="58064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8660" y="6016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— порог ЗП меняется ежегодно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4820" y="1554480"/>
            <a:ext cx="3611880" cy="4754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4820" y="1554480"/>
            <a:ext cx="36118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3420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🥈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189220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03420" y="2468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Long-Term Permit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03420" y="3108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Чехия · Lex Ukraine VII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03420" y="3520440"/>
            <a:ext cx="3154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342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рынка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03420" y="3886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~380 тыс.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03420" y="43891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шаблонизируется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03420" y="46177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алгоритмизируются: 2+ года TP на 31.03.2025, доход ≥ CZK 440 000. Ожидается вторая волна подачи.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03420" y="58064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03420" y="6016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— возможны изменения в Lex Ukraine VIII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69580" y="1554480"/>
            <a:ext cx="3611880" cy="4754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69580" y="1554480"/>
            <a:ext cx="36118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8180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🥉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8983980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98180" y="2468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CUKR / karta pobytu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98180" y="3108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Польша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98180" y="3520440"/>
            <a:ext cx="3154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9818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рынка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98180" y="3886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~950 тыс.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298180" y="43891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шаблонизируется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98180" y="46177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CUKR — 3 года, полный доступ к рынку труда. Фолбэк — karta czasowa по работе.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98180" y="58064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98180" y="6016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Высокий — CUKR ещё законопроект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Market Research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ИИ использовать нельзя / можно / нужно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0060" y="1554480"/>
            <a:ext cx="36118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0060" y="1554480"/>
            <a:ext cx="361188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" y="180136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94460" y="1783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Красная зона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9446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обязателен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" y="274320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Опека / место проживания ребёнка (ст. 161 СК)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имущества с оспариванием долей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Аргументация иска по ВЛК (Розклад хвороб)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Уголовная защита — включая СЗЧ (ст. 407)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Спорные отказы єВідновлення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 interviews / motivation letters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4820" y="1554480"/>
            <a:ext cx="36118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4820" y="1554480"/>
            <a:ext cx="361188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9140" y="1801368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914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89220" y="1783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Жёлтая зона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8922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AI-ассист, финал — за юристом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49140" y="274320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Жалобы в вышестоящую ВЛК (досудебные)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Иски о взыскании алиментов при оспаривании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Трансфер §24 → Chancenkarte при нестандарт. CV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Скарга на рішення ТЦК (средние случаи)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9580" y="1554480"/>
            <a:ext cx="36118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69580" y="1554480"/>
            <a:ext cx="3611880" cy="10058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43900" y="1801368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390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983980" y="1783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Зелёная зона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8398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автоматизация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43900" y="274320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 Аліменти — судовий наказ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№2 Розлучення через РАЦС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№4 Стандартна відстрочка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№8 Одноразова допомога сім'ям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№10 Компенсація єВідновлення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№13 Відновлення документів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Market Research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 Legal AI TWA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5087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868680" cy="8686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 1 · СЕЙЧАС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 Аліменти · судовий наказ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№2 РАЦС-розлучення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№4 Стандартна відстрочка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№10 єВідновлення (первичная)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783080"/>
            <a:ext cx="0" cy="105156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Обоснование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0" y="20116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Сотни тысяч запросов/год. Шаблонизируемость 90%+. Юр. риск низкий.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1247120" cy="15087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10972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20440"/>
            <a:ext cx="868680" cy="8686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20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 2 · Q3–Q4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703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№8 Виплати сім'ям загиблих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№14 Chancenkarte (Германия)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№16 Чехия — ко второй волне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429000"/>
            <a:ext cx="0" cy="105156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Обоснование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0" y="36576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Готовиться к окну легализации до марта 2027. Сейчас лучший момент собрать expertise.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11247120" cy="15087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846320"/>
            <a:ext cx="109728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166360"/>
            <a:ext cx="868680" cy="8686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166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92024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 3 · МОНИТОРИТЬ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53492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№17 CUKR (Польша) — ждать закона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№12 Оскарження єВідновлення — ждать ВС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5074920"/>
            <a:ext cx="0" cy="105156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Обоснование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55280" y="53035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Нормативная нестабильность. Следить за вступлением в силу и практикой.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Market Research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Официальные порталы и отраслевые отчёты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0060" y="1554480"/>
            <a:ext cx="3611880" cy="2286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0060" y="1554480"/>
            <a:ext cx="73152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" y="1691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Temporary Protection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4380" y="210312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consilium.europa.eu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ec.europa.eu (home-affairs)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eumigrationlawblog.eu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emnbelgium.be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4820" y="1554480"/>
            <a:ext cx="3611880" cy="2286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4820" y="1554480"/>
            <a:ext cx="73152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3420" y="1691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Германия · Чехия · Польша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9140" y="210312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migrando.de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se-legal.de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 (Flash Alerts)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help.unhcr.org/czech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ey.com/en_pl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69580" y="1554480"/>
            <a:ext cx="3611880" cy="2286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9580" y="1554480"/>
            <a:ext cx="73152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8180" y="1691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Украина: мобилизация / ВЛК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43900" y="210312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zakon.rada.gov.ua (ст. 23)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yur-gazeta.com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eopora.com.ua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legalaid.wiki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" y="4023360"/>
            <a:ext cx="3611880" cy="2286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" y="4023360"/>
            <a:ext cx="73152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" y="4160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Выплаты · єВідновлення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4380" y="457200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erecovery.diia.gov.ua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supreme.court.gov.ua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advokatmarket.com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ldn.org.ua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4820" y="4023360"/>
            <a:ext cx="3611880" cy="2286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4820" y="4023360"/>
            <a:ext cx="73152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3420" y="4160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Алименты · разводы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49140" y="457200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life.pravda.com.ua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politarena.ua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go-advocate.com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2p.com.ua (статистика)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9580" y="4023360"/>
            <a:ext cx="3611880" cy="2286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9580" y="4023360"/>
            <a:ext cx="73152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8180" y="4160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Юридический рынок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43900" y="457200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yur-gazeta.com (рейтинг)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pravo.ua (ТОП-50)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Market Research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Стартуем с зелёной зоны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готовимся к окну легализации до марта 2027.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828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9502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Валидировать form_config для услуг №1, №2, №4, №10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43484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4453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hybrid-шаблоны (JS + AI на склонение и обґрунтування)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93776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9560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legal review checkpoint для жёлтой зоны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5440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5458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Мониторить предложение ЕК (май 2026) и Lex Ukraine VIII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 TWA · 18 апреля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рынка юридических услуг — Legal AI TWA</dc:title>
  <dc:subject>PptxGenJS Presentation</dc:subject>
  <dc:creator>Legal AI TWA</dc:creator>
  <cp:lastModifiedBy>Legal AI TWA</cp:lastModifiedBy>
  <cp:revision>1</cp:revision>
  <dcterms:created xsi:type="dcterms:W3CDTF">2026-04-18T17:24:54Z</dcterms:created>
  <dcterms:modified xsi:type="dcterms:W3CDTF">2026-04-18T17:24:54Z</dcterms:modified>
</cp:coreProperties>
</file>